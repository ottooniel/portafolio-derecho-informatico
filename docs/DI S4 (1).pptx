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97" r:id="rId2"/>
    <p:sldId id="304" r:id="rId3"/>
    <p:sldId id="305" r:id="rId4"/>
    <p:sldId id="298" r:id="rId5"/>
    <p:sldId id="299" r:id="rId6"/>
    <p:sldId id="302" r:id="rId7"/>
    <p:sldId id="300" r:id="rId8"/>
    <p:sldId id="306" r:id="rId9"/>
    <p:sldId id="301" r:id="rId10"/>
    <p:sldId id="303" r:id="rId11"/>
    <p:sldId id="307" r:id="rId12"/>
    <p:sldId id="308" r:id="rId13"/>
    <p:sldId id="309" r:id="rId14"/>
    <p:sldId id="310" r:id="rId15"/>
    <p:sldId id="312" r:id="rId16"/>
    <p:sldId id="313" r:id="rId17"/>
    <p:sldId id="314" r:id="rId18"/>
    <p:sldId id="315" r:id="rId19"/>
    <p:sldId id="316" r:id="rId20"/>
    <p:sldId id="287" r:id="rId21"/>
  </p:sldIdLst>
  <p:sldSz cx="9144000" cy="6858000" type="screen4x3"/>
  <p:notesSz cx="6858000" cy="9144000"/>
  <p:defaultText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0" name="9 Triángulo rectángulo"/>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Título"/>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s-ES" smtClean="0"/>
              <a:t>Haga clic para modificar el estilo de título del patrón</a:t>
            </a:r>
            <a:endParaRPr kumimoji="0" lang="en-US"/>
          </a:p>
        </p:txBody>
      </p:sp>
      <p:sp>
        <p:nvSpPr>
          <p:cNvPr id="17" name="16 Subtítulo"/>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smtClean="0"/>
              <a:t>Haga clic para modificar el estilo de subtítulo del patrón</a:t>
            </a:r>
            <a:endParaRPr kumimoji="0" lang="en-US"/>
          </a:p>
        </p:txBody>
      </p:sp>
      <p:grpSp>
        <p:nvGrpSpPr>
          <p:cNvPr id="2" name="1 Grupo"/>
          <p:cNvGrpSpPr/>
          <p:nvPr/>
        </p:nvGrpSpPr>
        <p:grpSpPr>
          <a:xfrm>
            <a:off x="-3765" y="4953000"/>
            <a:ext cx="9147765" cy="1912088"/>
            <a:chOff x="-3765" y="4832896"/>
            <a:chExt cx="9147765" cy="2032192"/>
          </a:xfrm>
        </p:grpSpPr>
        <p:sp>
          <p:nvSpPr>
            <p:cNvPr id="7" name="6 Forma libre"/>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7 Forma libre"/>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Forma libre"/>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11 Conector recto"/>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29 Marcador de fecha"/>
          <p:cNvSpPr>
            <a:spLocks noGrp="1"/>
          </p:cNvSpPr>
          <p:nvPr>
            <p:ph type="dt" sz="half" idx="10"/>
          </p:nvPr>
        </p:nvSpPr>
        <p:spPr/>
        <p:txBody>
          <a:bodyPr/>
          <a:lstStyle>
            <a:lvl1pPr>
              <a:defRPr>
                <a:solidFill>
                  <a:srgbClr val="FFFFFF"/>
                </a:solidFill>
              </a:defRPr>
            </a:lvl1pPr>
            <a:extLst/>
          </a:lstStyle>
          <a:p>
            <a:fld id="{DB10F4DA-7ABF-4333-9F09-CDDAEC5E31F4}" type="datetimeFigureOut">
              <a:rPr lang="es-GT" smtClean="0"/>
              <a:t>25/02/2022</a:t>
            </a:fld>
            <a:endParaRPr lang="es-GT"/>
          </a:p>
        </p:txBody>
      </p:sp>
      <p:sp>
        <p:nvSpPr>
          <p:cNvPr id="19" name="18 Marcador de pie de página"/>
          <p:cNvSpPr>
            <a:spLocks noGrp="1"/>
          </p:cNvSpPr>
          <p:nvPr>
            <p:ph type="ftr" sz="quarter" idx="11"/>
          </p:nvPr>
        </p:nvSpPr>
        <p:spPr/>
        <p:txBody>
          <a:bodyPr/>
          <a:lstStyle>
            <a:lvl1pPr>
              <a:defRPr>
                <a:solidFill>
                  <a:schemeClr val="accent1">
                    <a:tint val="20000"/>
                  </a:schemeClr>
                </a:solidFill>
              </a:defRPr>
            </a:lvl1pPr>
            <a:extLst/>
          </a:lstStyle>
          <a:p>
            <a:endParaRPr lang="es-GT"/>
          </a:p>
        </p:txBody>
      </p:sp>
      <p:sp>
        <p:nvSpPr>
          <p:cNvPr id="27" name="26 Marcador de número de diapositiva"/>
          <p:cNvSpPr>
            <a:spLocks noGrp="1"/>
          </p:cNvSpPr>
          <p:nvPr>
            <p:ph type="sldNum" sz="quarter" idx="12"/>
          </p:nvPr>
        </p:nvSpPr>
        <p:spPr/>
        <p:txBody>
          <a:bodyPr/>
          <a:lstStyle>
            <a:lvl1pPr>
              <a:defRPr>
                <a:solidFill>
                  <a:srgbClr val="FFFFFF"/>
                </a:solidFill>
              </a:defRPr>
            </a:lvl1pPr>
            <a:extLst/>
          </a:lstStyle>
          <a:p>
            <a:fld id="{766E8B9F-E061-43FD-AF5A-7FD9AD969838}" type="slidenum">
              <a:rPr lang="es-GT" smtClean="0"/>
              <a:t>‹Nº›</a:t>
            </a:fld>
            <a:endParaRPr lang="es-G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DB10F4DA-7ABF-4333-9F09-CDDAEC5E31F4}" type="datetimeFigureOut">
              <a:rPr lang="es-GT" smtClean="0"/>
              <a:t>25/02/2022</a:t>
            </a:fld>
            <a:endParaRPr lang="es-GT"/>
          </a:p>
        </p:txBody>
      </p:sp>
      <p:sp>
        <p:nvSpPr>
          <p:cNvPr id="5" name="4 Marcador de pie de página"/>
          <p:cNvSpPr>
            <a:spLocks noGrp="1"/>
          </p:cNvSpPr>
          <p:nvPr>
            <p:ph type="ftr" sz="quarter" idx="11"/>
          </p:nvPr>
        </p:nvSpPr>
        <p:spPr/>
        <p:txBody>
          <a:bodyPr/>
          <a:lstStyle/>
          <a:p>
            <a:endParaRPr lang="es-GT"/>
          </a:p>
        </p:txBody>
      </p:sp>
      <p:sp>
        <p:nvSpPr>
          <p:cNvPr id="6" name="5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
        <p:nvSpPr>
          <p:cNvPr id="7" name="6 Título"/>
          <p:cNvSpPr>
            <a:spLocks noGrp="1"/>
          </p:cNvSpPr>
          <p:nvPr>
            <p:ph type="title"/>
          </p:nvPr>
        </p:nvSpPr>
        <p:spPr/>
        <p:txBody>
          <a:bodyPr rtlCol="0"/>
          <a:lstStyle/>
          <a:p>
            <a:r>
              <a:rPr kumimoji="0" lang="es-ES" smtClean="0"/>
              <a:t>Haga clic para modificar el estilo de título del patrón</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DB10F4DA-7ABF-4333-9F09-CDDAEC5E31F4}" type="datetimeFigureOut">
              <a:rPr lang="es-GT" smtClean="0"/>
              <a:t>25/02/2022</a:t>
            </a:fld>
            <a:endParaRPr lang="es-GT"/>
          </a:p>
        </p:txBody>
      </p:sp>
      <p:sp>
        <p:nvSpPr>
          <p:cNvPr id="5" name="4 Marcador de pie de página"/>
          <p:cNvSpPr>
            <a:spLocks noGrp="1"/>
          </p:cNvSpPr>
          <p:nvPr>
            <p:ph type="ftr" sz="quarter" idx="11"/>
          </p:nvPr>
        </p:nvSpPr>
        <p:spPr/>
        <p:txBody>
          <a:bodyPr/>
          <a:lstStyle/>
          <a:p>
            <a:endParaRPr lang="es-GT"/>
          </a:p>
        </p:txBody>
      </p:sp>
      <p:sp>
        <p:nvSpPr>
          <p:cNvPr id="6" name="5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
        <p:nvSpPr>
          <p:cNvPr id="7" name="6 Cheurón"/>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7 Cheurón"/>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Ref idx="1002">
        <a:schemeClr val="bg1"/>
      </p:bgRef>
    </p:bg>
    <p:spTree>
      <p:nvGrpSpPr>
        <p:cNvPr id="1" name=""/>
        <p:cNvGrpSpPr/>
        <p:nvPr/>
      </p:nvGrpSpPr>
      <p:grpSpPr>
        <a:xfrm>
          <a:off x="0" y="0"/>
          <a:ext cx="0" cy="0"/>
          <a:chOff x="0" y="0"/>
          <a:chExt cx="0" cy="0"/>
        </a:xfrm>
      </p:grpSpPr>
      <p:sp>
        <p:nvSpPr>
          <p:cNvPr id="3" name="2 Marcador de contenido"/>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DB10F4DA-7ABF-4333-9F09-CDDAEC5E31F4}" type="datetimeFigureOut">
              <a:rPr lang="es-GT" smtClean="0"/>
              <a:t>25/02/2022</a:t>
            </a:fld>
            <a:endParaRPr lang="es-GT"/>
          </a:p>
        </p:txBody>
      </p:sp>
      <p:sp>
        <p:nvSpPr>
          <p:cNvPr id="6" name="5 Marcador de pie de página"/>
          <p:cNvSpPr>
            <a:spLocks noGrp="1"/>
          </p:cNvSpPr>
          <p:nvPr>
            <p:ph type="ftr" sz="quarter" idx="11"/>
          </p:nvPr>
        </p:nvSpPr>
        <p:spPr/>
        <p:txBody>
          <a:bodyPr/>
          <a:lstStyle/>
          <a:p>
            <a:endParaRPr lang="es-GT"/>
          </a:p>
        </p:txBody>
      </p:sp>
      <p:sp>
        <p:nvSpPr>
          <p:cNvPr id="7" name="6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
        <p:nvSpPr>
          <p:cNvPr id="8" name="7 Título"/>
          <p:cNvSpPr>
            <a:spLocks noGrp="1"/>
          </p:cNvSpPr>
          <p:nvPr>
            <p:ph type="title"/>
          </p:nvPr>
        </p:nvSpPr>
        <p:spPr/>
        <p:txBody>
          <a:bodyPr rtlCol="0"/>
          <a:lstStyle/>
          <a:p>
            <a:r>
              <a:rPr kumimoji="0" lang="es-ES" smtClean="0"/>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nchor="ctr"/>
          <a:lstStyle>
            <a:lvl1pPr>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p>
            <a:fld id="{DB10F4DA-7ABF-4333-9F09-CDDAEC5E31F4}" type="datetimeFigureOut">
              <a:rPr lang="es-GT" smtClean="0"/>
              <a:t>25/02/2022</a:t>
            </a:fld>
            <a:endParaRPr lang="es-GT"/>
          </a:p>
        </p:txBody>
      </p:sp>
      <p:sp>
        <p:nvSpPr>
          <p:cNvPr id="8" name="7 Marcador de pie de página"/>
          <p:cNvSpPr>
            <a:spLocks noGrp="1"/>
          </p:cNvSpPr>
          <p:nvPr>
            <p:ph type="ftr" sz="quarter" idx="11"/>
          </p:nvPr>
        </p:nvSpPr>
        <p:spPr/>
        <p:txBody>
          <a:bodyPr/>
          <a:lstStyle/>
          <a:p>
            <a:endParaRPr lang="es-GT"/>
          </a:p>
        </p:txBody>
      </p:sp>
      <p:sp>
        <p:nvSpPr>
          <p:cNvPr id="9" name="8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bg>
      <p:bgRef idx="1002">
        <a:schemeClr val="bg1"/>
      </p:bgRef>
    </p:bg>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DB10F4DA-7ABF-4333-9F09-CDDAEC5E31F4}" type="datetimeFigureOut">
              <a:rPr lang="es-GT" smtClean="0"/>
              <a:t>25/02/2022</a:t>
            </a:fld>
            <a:endParaRPr lang="es-GT"/>
          </a:p>
        </p:txBody>
      </p:sp>
      <p:sp>
        <p:nvSpPr>
          <p:cNvPr id="4" name="3 Marcador de pie de página"/>
          <p:cNvSpPr>
            <a:spLocks noGrp="1"/>
          </p:cNvSpPr>
          <p:nvPr>
            <p:ph type="ftr" sz="quarter" idx="11"/>
          </p:nvPr>
        </p:nvSpPr>
        <p:spPr/>
        <p:txBody>
          <a:bodyPr/>
          <a:lstStyle/>
          <a:p>
            <a:endParaRPr lang="es-GT"/>
          </a:p>
        </p:txBody>
      </p:sp>
      <p:sp>
        <p:nvSpPr>
          <p:cNvPr id="5" name="4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
        <p:nvSpPr>
          <p:cNvPr id="6" name="5 Título"/>
          <p:cNvSpPr>
            <a:spLocks noGrp="1"/>
          </p:cNvSpPr>
          <p:nvPr>
            <p:ph type="title"/>
          </p:nvPr>
        </p:nvSpPr>
        <p:spPr/>
        <p:txBody>
          <a:bodyPr rtlCol="0"/>
          <a:lstStyle/>
          <a:p>
            <a:r>
              <a:rPr kumimoji="0" lang="es-ES" smtClean="0"/>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DB10F4DA-7ABF-4333-9F09-CDDAEC5E31F4}" type="datetimeFigureOut">
              <a:rPr lang="es-GT" smtClean="0"/>
              <a:t>25/02/2022</a:t>
            </a:fld>
            <a:endParaRPr lang="es-GT"/>
          </a:p>
        </p:txBody>
      </p:sp>
      <p:sp>
        <p:nvSpPr>
          <p:cNvPr id="3" name="2 Marcador de pie de página"/>
          <p:cNvSpPr>
            <a:spLocks noGrp="1"/>
          </p:cNvSpPr>
          <p:nvPr>
            <p:ph type="ftr" sz="quarter" idx="11"/>
          </p:nvPr>
        </p:nvSpPr>
        <p:spPr/>
        <p:txBody>
          <a:bodyPr/>
          <a:lstStyle/>
          <a:p>
            <a:endParaRPr lang="es-GT"/>
          </a:p>
        </p:txBody>
      </p:sp>
      <p:sp>
        <p:nvSpPr>
          <p:cNvPr id="4" name="3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a:xfrm>
            <a:off x="6727032" y="6407944"/>
            <a:ext cx="1920240" cy="365760"/>
          </a:xfrm>
        </p:spPr>
        <p:txBody>
          <a:bodyPr/>
          <a:lstStyle/>
          <a:p>
            <a:fld id="{DB10F4DA-7ABF-4333-9F09-CDDAEC5E31F4}" type="datetimeFigureOut">
              <a:rPr lang="es-GT" smtClean="0"/>
              <a:t>25/02/2022</a:t>
            </a:fld>
            <a:endParaRPr lang="es-GT"/>
          </a:p>
        </p:txBody>
      </p:sp>
      <p:sp>
        <p:nvSpPr>
          <p:cNvPr id="6" name="5 Marcador de pie de página"/>
          <p:cNvSpPr>
            <a:spLocks noGrp="1"/>
          </p:cNvSpPr>
          <p:nvPr>
            <p:ph type="ftr" sz="quarter" idx="11"/>
          </p:nvPr>
        </p:nvSpPr>
        <p:spPr/>
        <p:txBody>
          <a:bodyPr/>
          <a:lstStyle/>
          <a:p>
            <a:endParaRPr lang="es-GT"/>
          </a:p>
        </p:txBody>
      </p:sp>
      <p:sp>
        <p:nvSpPr>
          <p:cNvPr id="7" name="6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4" name="3 Marcador de texto"/>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s-ES" smtClean="0"/>
              <a:t>Haga clic para modificar el estilo de texto del patrón</a:t>
            </a:r>
          </a:p>
        </p:txBody>
      </p:sp>
      <p:sp>
        <p:nvSpPr>
          <p:cNvPr id="3" name="2 Marcador de posición de imagen"/>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s-ES" smtClean="0"/>
              <a:t>Haga clic en el icono para agregar una imagen</a:t>
            </a:r>
            <a:endParaRPr kumimoji="0" lang="en-US" dirty="0"/>
          </a:p>
        </p:txBody>
      </p:sp>
      <p:sp>
        <p:nvSpPr>
          <p:cNvPr id="5" name="4 Marcador de fecha"/>
          <p:cNvSpPr>
            <a:spLocks noGrp="1"/>
          </p:cNvSpPr>
          <p:nvPr>
            <p:ph type="dt" sz="half" idx="10"/>
          </p:nvPr>
        </p:nvSpPr>
        <p:spPr/>
        <p:txBody>
          <a:bodyPr/>
          <a:lstStyle>
            <a:lvl1pPr>
              <a:defRPr>
                <a:solidFill>
                  <a:schemeClr val="tx1"/>
                </a:solidFill>
              </a:defRPr>
            </a:lvl1pPr>
            <a:extLst/>
          </a:lstStyle>
          <a:p>
            <a:fld id="{DB10F4DA-7ABF-4333-9F09-CDDAEC5E31F4}" type="datetimeFigureOut">
              <a:rPr lang="es-GT" smtClean="0"/>
              <a:t>25/02/2022</a:t>
            </a:fld>
            <a:endParaRPr lang="es-GT"/>
          </a:p>
        </p:txBody>
      </p:sp>
      <p:sp>
        <p:nvSpPr>
          <p:cNvPr id="6" name="5 Marcador de pie de página"/>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s-GT"/>
          </a:p>
        </p:txBody>
      </p:sp>
      <p:sp>
        <p:nvSpPr>
          <p:cNvPr id="7" name="6 Marcador de número de diapositiva"/>
          <p:cNvSpPr>
            <a:spLocks noGrp="1"/>
          </p:cNvSpPr>
          <p:nvPr>
            <p:ph type="sldNum" sz="quarter" idx="12"/>
          </p:nvPr>
        </p:nvSpPr>
        <p:spPr/>
        <p:txBody>
          <a:bodyPr/>
          <a:lstStyle>
            <a:lvl1pPr>
              <a:defRPr>
                <a:solidFill>
                  <a:schemeClr val="tx1"/>
                </a:solidFill>
              </a:defRPr>
            </a:lvl1pPr>
            <a:extLst/>
          </a:lstStyle>
          <a:p>
            <a:fld id="{766E8B9F-E061-43FD-AF5A-7FD9AD969838}" type="slidenum">
              <a:rPr lang="es-GT" smtClean="0"/>
              <a:t>‹Nº›</a:t>
            </a:fld>
            <a:endParaRPr lang="es-GT"/>
          </a:p>
        </p:txBody>
      </p:sp>
      <p:sp>
        <p:nvSpPr>
          <p:cNvPr id="2" name="1 Título"/>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s-ES" smtClean="0"/>
              <a:t>Haga clic para modificar el estilo de título del patrón</a:t>
            </a:r>
            <a:endParaRPr kumimoji="0" lang="en-US"/>
          </a:p>
        </p:txBody>
      </p:sp>
      <p:sp>
        <p:nvSpPr>
          <p:cNvPr id="8" name="7 Forma libre"/>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Forma libre"/>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Triángulo rectángulo"/>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10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11 Cheurón"/>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12 Cheurón"/>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1481329"/>
            <a:ext cx="8229600" cy="4386071"/>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DB10F4DA-7ABF-4333-9F09-CDDAEC5E31F4}" type="datetimeFigureOut">
              <a:rPr lang="es-GT" smtClean="0"/>
              <a:t>25/02/2022</a:t>
            </a:fld>
            <a:endParaRPr lang="es-GT"/>
          </a:p>
        </p:txBody>
      </p:sp>
      <p:sp>
        <p:nvSpPr>
          <p:cNvPr id="5" name="4 Marcador de pie de página"/>
          <p:cNvSpPr>
            <a:spLocks noGrp="1"/>
          </p:cNvSpPr>
          <p:nvPr>
            <p:ph type="ftr" sz="quarter" idx="11"/>
          </p:nvPr>
        </p:nvSpPr>
        <p:spPr/>
        <p:txBody>
          <a:bodyPr/>
          <a:lstStyle/>
          <a:p>
            <a:endParaRPr lang="es-GT"/>
          </a:p>
        </p:txBody>
      </p:sp>
      <p:sp>
        <p:nvSpPr>
          <p:cNvPr id="6" name="5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44013" y="274640"/>
            <a:ext cx="1777470" cy="5592761"/>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41"/>
            <a:ext cx="6324600" cy="5592760"/>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DB10F4DA-7ABF-4333-9F09-CDDAEC5E31F4}" type="datetimeFigureOut">
              <a:rPr lang="es-GT" smtClean="0"/>
              <a:t>25/02/2022</a:t>
            </a:fld>
            <a:endParaRPr lang="es-GT"/>
          </a:p>
        </p:txBody>
      </p:sp>
      <p:sp>
        <p:nvSpPr>
          <p:cNvPr id="5" name="4 Marcador de pie de página"/>
          <p:cNvSpPr>
            <a:spLocks noGrp="1"/>
          </p:cNvSpPr>
          <p:nvPr>
            <p:ph type="ftr" sz="quarter" idx="11"/>
          </p:nvPr>
        </p:nvSpPr>
        <p:spPr/>
        <p:txBody>
          <a:bodyPr/>
          <a:lstStyle/>
          <a:p>
            <a:endParaRPr lang="es-GT"/>
          </a:p>
        </p:txBody>
      </p:sp>
      <p:sp>
        <p:nvSpPr>
          <p:cNvPr id="6" name="5 Marcador de número de diapositiva"/>
          <p:cNvSpPr>
            <a:spLocks noGrp="1"/>
          </p:cNvSpPr>
          <p:nvPr>
            <p:ph type="sldNum" sz="quarter" idx="12"/>
          </p:nvPr>
        </p:nvSpPr>
        <p:spPr/>
        <p:txBody>
          <a:bodyPr/>
          <a:lstStyle/>
          <a:p>
            <a:fld id="{766E8B9F-E061-43FD-AF5A-7FD9AD969838}" type="slidenum">
              <a:rPr lang="es-GT" smtClean="0"/>
              <a:t>‹Nº›</a:t>
            </a:fld>
            <a:endParaRPr lang="es-G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12 Forma libre"/>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Forma libre"/>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Triángulo rectángulo"/>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14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Marcador de título"/>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s-ES" smtClean="0"/>
              <a:t>Haga clic para modificar el estilo de título del patrón</a:t>
            </a:r>
            <a:endParaRPr kumimoji="0" lang="en-US"/>
          </a:p>
        </p:txBody>
      </p:sp>
      <p:sp>
        <p:nvSpPr>
          <p:cNvPr id="30" name="29 Marcador de texto"/>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0" name="9 Marcador de fecha"/>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DB10F4DA-7ABF-4333-9F09-CDDAEC5E31F4}" type="datetimeFigureOut">
              <a:rPr lang="es-GT" smtClean="0"/>
              <a:t>25/02/2022</a:t>
            </a:fld>
            <a:endParaRPr lang="es-GT"/>
          </a:p>
        </p:txBody>
      </p:sp>
      <p:sp>
        <p:nvSpPr>
          <p:cNvPr id="22" name="21 Marcador de pie de página"/>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s-GT"/>
          </a:p>
        </p:txBody>
      </p:sp>
      <p:sp>
        <p:nvSpPr>
          <p:cNvPr id="18" name="17 Marcador de número de diapositiva"/>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66E8B9F-E061-43FD-AF5A-7FD9AD969838}" type="slidenum">
              <a:rPr lang="es-GT" smtClean="0"/>
              <a:t>‹Nº›</a:t>
            </a:fld>
            <a:endParaRPr lang="es-GT"/>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descr="C:\Users\Manuel Medina\Pictures\chance.JPG"/>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bwMode="auto">
          <a:xfrm>
            <a:off x="973138" y="2020888"/>
            <a:ext cx="7197725" cy="4075112"/>
          </a:xfrm>
        </p:spPr>
      </p:pic>
      <p:sp>
        <p:nvSpPr>
          <p:cNvPr id="2" name="1 Título"/>
          <p:cNvSpPr>
            <a:spLocks noGrp="1"/>
          </p:cNvSpPr>
          <p:nvPr>
            <p:ph type="title"/>
          </p:nvPr>
        </p:nvSpPr>
        <p:spPr/>
        <p:txBody>
          <a:bodyPr>
            <a:normAutofit/>
          </a:bodyPr>
          <a:lstStyle/>
          <a:p>
            <a:pPr fontAlgn="auto">
              <a:spcAft>
                <a:spcPts val="0"/>
              </a:spcAft>
              <a:defRPr/>
            </a:pPr>
            <a:r>
              <a:rPr lang="es-GT" sz="3000" dirty="0" smtClean="0">
                <a:solidFill>
                  <a:schemeClr val="tx1"/>
                </a:solidFill>
              </a:rPr>
              <a:t>Diferencia entre Derecho Informático e Informática Jurídica</a:t>
            </a:r>
            <a:endParaRPr lang="es-GT" sz="3000" dirty="0">
              <a:solidFill>
                <a:schemeClr val="tx1"/>
              </a:solidFill>
            </a:endParaRPr>
          </a:p>
        </p:txBody>
      </p:sp>
      <p:pic>
        <p:nvPicPr>
          <p:cNvPr id="4" name="Picture 2" descr="C:\Users\Manuel Medina\Pictures\chance.JPG"/>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bwMode="auto">
          <a:xfrm>
            <a:off x="626872" y="1484784"/>
            <a:ext cx="7890256" cy="4467200"/>
          </a:xfrm>
          <a:prstGeom prst="rect">
            <a:avLst/>
          </a:prstGeom>
        </p:spPr>
      </p:pic>
    </p:spTree>
    <p:extLst>
      <p:ext uri="{BB962C8B-B14F-4D97-AF65-F5344CB8AC3E}">
        <p14:creationId xmlns:p14="http://schemas.microsoft.com/office/powerpoint/2010/main" val="2274560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467544" y="1052736"/>
            <a:ext cx="8229600" cy="4680520"/>
          </a:xfrm>
        </p:spPr>
        <p:txBody>
          <a:bodyPr>
            <a:normAutofit fontScale="92500" lnSpcReduction="20000"/>
          </a:bodyPr>
          <a:lstStyle/>
          <a:p>
            <a:pPr marL="109728" indent="0">
              <a:buNone/>
            </a:pPr>
            <a:r>
              <a:rPr lang="es-GT" sz="2900" b="1" dirty="0"/>
              <a:t>NUEVOS CRITERIOS DE RELACIÓN ENTRE EL DERECHO y LAS TECNOLOGÍAS DE LA INFORMACIÓN Y LA COMUNICACIÓN (TIC</a:t>
            </a:r>
            <a:r>
              <a:rPr lang="es-GT" sz="2900" b="1" dirty="0" smtClean="0"/>
              <a:t>)</a:t>
            </a:r>
          </a:p>
          <a:p>
            <a:pPr marL="109728" indent="0">
              <a:buNone/>
            </a:pPr>
            <a:endParaRPr lang="es-GT" sz="2900" b="1" dirty="0"/>
          </a:p>
          <a:p>
            <a:pPr marL="109728" indent="0">
              <a:buNone/>
            </a:pPr>
            <a:r>
              <a:rPr lang="es-GT" sz="2900" b="1" dirty="0"/>
              <a:t>¿</a:t>
            </a:r>
            <a:r>
              <a:rPr lang="es-GT" sz="2900" b="1" dirty="0" smtClean="0"/>
              <a:t>Por qué hay </a:t>
            </a:r>
            <a:r>
              <a:rPr lang="es-GT" sz="2900" b="1" dirty="0"/>
              <a:t>nuevos criterios de relación entre el Derecho y las TIC</a:t>
            </a:r>
            <a:r>
              <a:rPr lang="es-GT" sz="2900" b="1" dirty="0" smtClean="0"/>
              <a:t>?</a:t>
            </a:r>
          </a:p>
          <a:p>
            <a:pPr marL="109728" indent="0">
              <a:buNone/>
            </a:pPr>
            <a:endParaRPr lang="es-GT" sz="2900" b="1" dirty="0"/>
          </a:p>
          <a:p>
            <a:pPr marL="109728" indent="0">
              <a:buNone/>
            </a:pPr>
            <a:r>
              <a:rPr lang="es-GT" sz="2900"/>
              <a:t>¿</a:t>
            </a:r>
            <a:r>
              <a:rPr lang="es-GT" sz="2900" smtClean="0"/>
              <a:t>Por qué </a:t>
            </a:r>
            <a:r>
              <a:rPr lang="es-GT" sz="2900" dirty="0"/>
              <a:t>en la actualidad algunos doctrinarios e investigadores promueven corrientes para atender al problema de encuadrar el campo que representa el crecimiento </a:t>
            </a:r>
            <a:r>
              <a:rPr lang="es-GT" sz="2900" dirty="0" smtClean="0"/>
              <a:t>tecnológico </a:t>
            </a:r>
            <a:r>
              <a:rPr lang="es-GT" sz="2900" dirty="0"/>
              <a:t>en </a:t>
            </a:r>
            <a:r>
              <a:rPr lang="es-GT" sz="2900"/>
              <a:t>el </a:t>
            </a:r>
            <a:r>
              <a:rPr lang="es-GT" sz="2900" smtClean="0"/>
              <a:t>Derecho?</a:t>
            </a:r>
            <a:endParaRPr lang="es-GT" sz="2900" dirty="0"/>
          </a:p>
          <a:p>
            <a:pPr fontAlgn="auto">
              <a:spcAft>
                <a:spcPts val="0"/>
              </a:spcAft>
              <a:defRPr/>
            </a:pPr>
            <a:endParaRPr lang="es-GT" dirty="0"/>
          </a:p>
        </p:txBody>
      </p:sp>
    </p:spTree>
    <p:extLst>
      <p:ext uri="{BB962C8B-B14F-4D97-AF65-F5344CB8AC3E}">
        <p14:creationId xmlns:p14="http://schemas.microsoft.com/office/powerpoint/2010/main" val="18726363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467544" y="980728"/>
            <a:ext cx="8229600" cy="4525963"/>
          </a:xfrm>
        </p:spPr>
        <p:txBody>
          <a:bodyPr/>
          <a:lstStyle/>
          <a:p>
            <a:pPr marL="109728" indent="0">
              <a:buNone/>
            </a:pPr>
            <a:r>
              <a:rPr lang="es-GT" b="1" dirty="0"/>
              <a:t>El Derecho de la Informática</a:t>
            </a:r>
          </a:p>
          <a:p>
            <a:pPr marL="109728" indent="0">
              <a:buNone/>
            </a:pPr>
            <a:r>
              <a:rPr lang="es-GT" dirty="0"/>
              <a:t>Esta corriente la aporta Julio Téllez, utiliza este concepto para establecer que el Derecho de la Informática incluye tanto a la Informática Jurídica como al Derecho Informático.</a:t>
            </a:r>
          </a:p>
          <a:p>
            <a:pPr marL="109728" indent="0">
              <a:buNone/>
            </a:pPr>
            <a:r>
              <a:rPr lang="es-GT" dirty="0"/>
              <a:t>Julio Téllez define al Derecho de la Informática como el conjunto de leyes, normas y principios aplicables a los hechos y actos derivados de la informática.</a:t>
            </a:r>
          </a:p>
          <a:p>
            <a:endParaRPr lang="es-GT" dirty="0"/>
          </a:p>
        </p:txBody>
      </p:sp>
    </p:spTree>
    <p:extLst>
      <p:ext uri="{BB962C8B-B14F-4D97-AF65-F5344CB8AC3E}">
        <p14:creationId xmlns:p14="http://schemas.microsoft.com/office/powerpoint/2010/main" val="2555429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323528" y="332656"/>
            <a:ext cx="8229600" cy="4075112"/>
          </a:xfrm>
        </p:spPr>
        <p:txBody>
          <a:bodyPr>
            <a:normAutofit fontScale="92500" lnSpcReduction="10000"/>
          </a:bodyPr>
          <a:lstStyle/>
          <a:p>
            <a:pPr marL="109728" indent="0" algn="just">
              <a:buNone/>
            </a:pPr>
            <a:r>
              <a:rPr lang="es-GT" u="sng" dirty="0"/>
              <a:t>DERECHO DE LA INFORMATICA</a:t>
            </a:r>
            <a:r>
              <a:rPr lang="es-GT" dirty="0"/>
              <a:t>: Esta corriente la aporta Julio Téllez, </a:t>
            </a:r>
            <a:r>
              <a:rPr lang="es-GT" dirty="0" smtClean="0"/>
              <a:t>establece </a:t>
            </a:r>
            <a:r>
              <a:rPr lang="es-GT" dirty="0"/>
              <a:t>que el Derecho de la Informática incluye tanto a la Informática Jurídica como al Derecho Informático.</a:t>
            </a:r>
          </a:p>
          <a:p>
            <a:pPr marL="109728" indent="0" algn="just">
              <a:buNone/>
            </a:pPr>
            <a:r>
              <a:rPr lang="es-GT" dirty="0" smtClean="0"/>
              <a:t>Téllez </a:t>
            </a:r>
            <a:r>
              <a:rPr lang="es-GT" dirty="0"/>
              <a:t>define al Derecho de la Informática como el conjunto de leyes, normas y principios aplicables a los hechos y actos derivados de la informática.</a:t>
            </a:r>
          </a:p>
          <a:p>
            <a:pPr marL="109728" indent="0" algn="just" fontAlgn="auto">
              <a:spcAft>
                <a:spcPts val="0"/>
              </a:spcAft>
              <a:buNone/>
              <a:defRPr/>
            </a:pPr>
            <a:r>
              <a:rPr lang="es-GT" dirty="0" smtClean="0"/>
              <a:t>Es </a:t>
            </a:r>
            <a:r>
              <a:rPr lang="es-GT" dirty="0"/>
              <a:t>decir, es un conjunto de leyes en cuanto que, si bien escasos, existen varios ordenamientos jurídicos nacionales e internacionales con alusión específica al fenómeno informático. </a:t>
            </a:r>
          </a:p>
          <a:p>
            <a:pPr fontAlgn="auto">
              <a:spcAft>
                <a:spcPts val="0"/>
              </a:spcAft>
              <a:defRPr/>
            </a:pPr>
            <a:endParaRPr lang="es-GT" dirty="0"/>
          </a:p>
        </p:txBody>
      </p:sp>
    </p:spTree>
    <p:extLst>
      <p:ext uri="{BB962C8B-B14F-4D97-AF65-F5344CB8AC3E}">
        <p14:creationId xmlns:p14="http://schemas.microsoft.com/office/powerpoint/2010/main" val="33774205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395536" y="404664"/>
            <a:ext cx="8229600" cy="2232248"/>
          </a:xfrm>
        </p:spPr>
        <p:txBody>
          <a:bodyPr>
            <a:noAutofit/>
          </a:bodyPr>
          <a:lstStyle/>
          <a:p>
            <a:pPr marL="109728" indent="0" algn="just" fontAlgn="auto">
              <a:spcAft>
                <a:spcPts val="0"/>
              </a:spcAft>
              <a:buNone/>
              <a:defRPr/>
            </a:pPr>
            <a:r>
              <a:rPr lang="es-GT" sz="2500" u="sng" dirty="0"/>
              <a:t>EL DERECHO COMO </a:t>
            </a:r>
            <a:r>
              <a:rPr lang="es-GT" sz="2500" u="sng" dirty="0" smtClean="0"/>
              <a:t>TECNOLOGÍA</a:t>
            </a:r>
            <a:r>
              <a:rPr lang="es-GT" sz="2500" dirty="0"/>
              <a:t>: </a:t>
            </a:r>
            <a:endParaRPr lang="es-GT" sz="2500" dirty="0" smtClean="0"/>
          </a:p>
          <a:p>
            <a:pPr marL="109728" indent="0" algn="just">
              <a:buNone/>
            </a:pPr>
            <a:r>
              <a:rPr lang="es-GT" sz="2500" dirty="0"/>
              <a:t>Esta corriente orienta a desaparecer la división entre Informática Jurídica y Derecho Informático.</a:t>
            </a:r>
          </a:p>
          <a:p>
            <a:pPr marL="109728" indent="0" algn="just">
              <a:buNone/>
            </a:pPr>
            <a:r>
              <a:rPr lang="es-GT" sz="2500" dirty="0"/>
              <a:t>Uno de sus precursores es Jaime Lara Márquez, Profesor de Informática Jurídica de la Pontificia Universidad Católica de Perú, quien la propone para terminar esa división existente.</a:t>
            </a:r>
          </a:p>
          <a:p>
            <a:pPr marL="109728" indent="0" algn="just" fontAlgn="auto">
              <a:spcAft>
                <a:spcPts val="0"/>
              </a:spcAft>
              <a:buNone/>
              <a:defRPr/>
            </a:pPr>
            <a:endParaRPr lang="es-GT" sz="2500" dirty="0"/>
          </a:p>
          <a:p>
            <a:pPr marL="109728" indent="0" algn="just" fontAlgn="auto">
              <a:spcAft>
                <a:spcPts val="0"/>
              </a:spcAft>
              <a:buNone/>
              <a:defRPr/>
            </a:pPr>
            <a:r>
              <a:rPr lang="es-GT" sz="2500" dirty="0" smtClean="0"/>
              <a:t>El </a:t>
            </a:r>
            <a:r>
              <a:rPr lang="es-GT" sz="2500" dirty="0"/>
              <a:t>derecho como tecnología, supone que este se halle fundado necesariamente en conocimiento científico así como que este orientado a obtener eficientemente resultados prácticos, puesto que la tecnología no es sino la aplicación practica del conocimiento científico.  </a:t>
            </a:r>
          </a:p>
        </p:txBody>
      </p:sp>
    </p:spTree>
    <p:extLst>
      <p:ext uri="{BB962C8B-B14F-4D97-AF65-F5344CB8AC3E}">
        <p14:creationId xmlns:p14="http://schemas.microsoft.com/office/powerpoint/2010/main" val="14411603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539552" y="1052736"/>
            <a:ext cx="8229600" cy="4104456"/>
          </a:xfrm>
        </p:spPr>
        <p:txBody>
          <a:bodyPr>
            <a:normAutofit lnSpcReduction="10000"/>
          </a:bodyPr>
          <a:lstStyle/>
          <a:p>
            <a:pPr marL="109728" indent="0" algn="just" fontAlgn="auto">
              <a:spcAft>
                <a:spcPts val="0"/>
              </a:spcAft>
              <a:buNone/>
              <a:defRPr/>
            </a:pPr>
            <a:r>
              <a:rPr lang="es-GT" sz="2500" dirty="0" smtClean="0"/>
              <a:t>Finalmente </a:t>
            </a:r>
            <a:r>
              <a:rPr lang="es-GT" sz="2500" dirty="0"/>
              <a:t>al entender el derecho como tecnología supone un cambio de perspectiva, que hará posible que el derecho, desde su propia esencia, pueda aprovechar convenientemente las ventajas de las nuevas tecnologías, incluidas la informática y ponerse a la altura de los tiempos, garantizando y haciendo posible la imprescindibles condiciones de orden, control, seguridad, eficiencia y justicia que la sociedad requiere para una adecuada estructuración de las interacciones económicas, sociales y políticas. </a:t>
            </a:r>
          </a:p>
          <a:p>
            <a:pPr fontAlgn="auto">
              <a:spcAft>
                <a:spcPts val="0"/>
              </a:spcAft>
              <a:defRPr/>
            </a:pPr>
            <a:endParaRPr lang="es-GT" dirty="0"/>
          </a:p>
        </p:txBody>
      </p:sp>
    </p:spTree>
    <p:extLst>
      <p:ext uri="{BB962C8B-B14F-4D97-AF65-F5344CB8AC3E}">
        <p14:creationId xmlns:p14="http://schemas.microsoft.com/office/powerpoint/2010/main" val="42645140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395536" y="908720"/>
            <a:ext cx="8229600" cy="4320480"/>
          </a:xfrm>
        </p:spPr>
        <p:txBody>
          <a:bodyPr/>
          <a:lstStyle/>
          <a:p>
            <a:pPr marL="109728" indent="0" algn="just">
              <a:buNone/>
              <a:defRPr/>
            </a:pPr>
            <a:r>
              <a:rPr lang="es-GT" u="sng" dirty="0" smtClean="0"/>
              <a:t>DERECHO TELEMÁTICO O DERECHO DE LAS TELECOMUNICACIONES:</a:t>
            </a:r>
            <a:r>
              <a:rPr lang="es-GT" dirty="0"/>
              <a:t>  La Unión Internacional de Telecomunicaciones (UIT) es, según los criterios que han quedado establecidos más arriba, una organización permanente, de ámbito específico para las telecomunicaciones, pero de carácter asimismo general, para todo el sector; territorial, y cuya normativa se aplica de conformidad a las reglas y procedimientos de un Tratado de carácter multilateral.</a:t>
            </a:r>
          </a:p>
          <a:p>
            <a:pPr fontAlgn="auto">
              <a:spcAft>
                <a:spcPts val="0"/>
              </a:spcAft>
              <a:defRPr/>
            </a:pPr>
            <a:endParaRPr lang="es-GT" dirty="0"/>
          </a:p>
        </p:txBody>
      </p:sp>
    </p:spTree>
    <p:extLst>
      <p:ext uri="{BB962C8B-B14F-4D97-AF65-F5344CB8AC3E}">
        <p14:creationId xmlns:p14="http://schemas.microsoft.com/office/powerpoint/2010/main" val="19090912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467544" y="1844824"/>
            <a:ext cx="8229600" cy="2592288"/>
          </a:xfrm>
        </p:spPr>
        <p:txBody>
          <a:bodyPr>
            <a:normAutofit/>
          </a:bodyPr>
          <a:lstStyle/>
          <a:p>
            <a:pPr marL="109728" indent="0" algn="just">
              <a:buNone/>
              <a:defRPr/>
            </a:pPr>
            <a:r>
              <a:rPr lang="es-GT" sz="2500" dirty="0"/>
              <a:t>La noción del derecho de las telecomunicaciones, tanto como porción del ordenamiento jurídico cuanto como ciencia que tiene por objeto el estudio científico de dicha parcela del universo jurídico, puede alcanzarse a través de su objeto: las telecomunicaciones. </a:t>
            </a:r>
          </a:p>
          <a:p>
            <a:pPr marL="109728" indent="0" fontAlgn="auto">
              <a:spcAft>
                <a:spcPts val="0"/>
              </a:spcAft>
              <a:buNone/>
              <a:defRPr/>
            </a:pPr>
            <a:endParaRPr lang="es-GT" dirty="0"/>
          </a:p>
        </p:txBody>
      </p:sp>
    </p:spTree>
    <p:extLst>
      <p:ext uri="{BB962C8B-B14F-4D97-AF65-F5344CB8AC3E}">
        <p14:creationId xmlns:p14="http://schemas.microsoft.com/office/powerpoint/2010/main" val="35448693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395536" y="332656"/>
            <a:ext cx="8229600" cy="5616624"/>
          </a:xfrm>
        </p:spPr>
        <p:txBody>
          <a:bodyPr/>
          <a:lstStyle/>
          <a:p>
            <a:pPr marL="109728" indent="0" algn="just" fontAlgn="auto">
              <a:spcAft>
                <a:spcPts val="0"/>
              </a:spcAft>
              <a:buNone/>
              <a:defRPr/>
            </a:pPr>
            <a:r>
              <a:rPr lang="es-GT" u="sng" dirty="0" smtClean="0"/>
              <a:t>DERECHO DE LA INTERNET:</a:t>
            </a:r>
            <a:r>
              <a:rPr lang="es-GT" dirty="0" smtClean="0"/>
              <a:t>  el </a:t>
            </a:r>
            <a:r>
              <a:rPr lang="es-GT" dirty="0"/>
              <a:t>surgimiento de internet como medio de comunicación y como fuente que origina relaciones entre personas y por medio del cual se pueden contraer derechos y obligaciones, fomenta el desarrollo actual del derecho informático, porque se le había considerado solo para regular lo acontecido entre el usuario, la computadora y la información que se procesaba; pero la internet fue un despertar para los que no consideraban la importancia del derecho y su relación con la informática y sobre todo su contenido.  </a:t>
            </a:r>
          </a:p>
        </p:txBody>
      </p:sp>
    </p:spTree>
    <p:extLst>
      <p:ext uri="{BB962C8B-B14F-4D97-AF65-F5344CB8AC3E}">
        <p14:creationId xmlns:p14="http://schemas.microsoft.com/office/powerpoint/2010/main" val="31905704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467544" y="1412776"/>
            <a:ext cx="8229600" cy="2880320"/>
          </a:xfrm>
        </p:spPr>
        <p:txBody>
          <a:bodyPr>
            <a:normAutofit/>
          </a:bodyPr>
          <a:lstStyle/>
          <a:p>
            <a:pPr marL="109728" indent="0" algn="just" fontAlgn="auto">
              <a:spcAft>
                <a:spcPts val="0"/>
              </a:spcAft>
              <a:buNone/>
              <a:defRPr/>
            </a:pPr>
            <a:r>
              <a:rPr lang="es-GT" dirty="0" smtClean="0"/>
              <a:t>Se debe recordar </a:t>
            </a:r>
            <a:r>
              <a:rPr lang="es-GT" dirty="0"/>
              <a:t>que con el uso del internet conceptos </a:t>
            </a:r>
            <a:r>
              <a:rPr lang="es-GT" dirty="0" smtClean="0"/>
              <a:t>tradicionales, </a:t>
            </a:r>
            <a:r>
              <a:rPr lang="es-GT" dirty="0"/>
              <a:t>derechos como el ámbito espacial de validez de las normas quedan limitas al utilizarse conceptos que atañen a esta la realidad informática como el espacio virtual o el ciberespacio. </a:t>
            </a:r>
          </a:p>
          <a:p>
            <a:pPr fontAlgn="auto">
              <a:spcAft>
                <a:spcPts val="0"/>
              </a:spcAft>
              <a:defRPr/>
            </a:pPr>
            <a:endParaRPr lang="es-GT" dirty="0"/>
          </a:p>
        </p:txBody>
      </p:sp>
    </p:spTree>
    <p:extLst>
      <p:ext uri="{BB962C8B-B14F-4D97-AF65-F5344CB8AC3E}">
        <p14:creationId xmlns:p14="http://schemas.microsoft.com/office/powerpoint/2010/main" val="26598242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467544" y="1412776"/>
            <a:ext cx="8229600" cy="2880320"/>
          </a:xfrm>
        </p:spPr>
        <p:txBody>
          <a:bodyPr>
            <a:normAutofit/>
          </a:bodyPr>
          <a:lstStyle/>
          <a:p>
            <a:pPr marL="109728" indent="0">
              <a:buNone/>
            </a:pPr>
            <a:r>
              <a:rPr lang="es-GT" b="1" dirty="0" smtClean="0"/>
              <a:t>CARACTERÍSTICAS</a:t>
            </a:r>
          </a:p>
          <a:p>
            <a:pPr marL="109728" indent="0">
              <a:buNone/>
            </a:pPr>
            <a:endParaRPr lang="es-GT" dirty="0"/>
          </a:p>
          <a:p>
            <a:pPr marL="109728" indent="0">
              <a:buNone/>
            </a:pPr>
            <a:r>
              <a:rPr lang="es-GT" dirty="0"/>
              <a:t>a) Actualización diaria de la información;</a:t>
            </a:r>
          </a:p>
          <a:p>
            <a:pPr marL="109728" indent="0">
              <a:buNone/>
            </a:pPr>
            <a:r>
              <a:rPr lang="es-GT" dirty="0"/>
              <a:t>b) Exhaustividad y rigor de los contenidos;</a:t>
            </a:r>
          </a:p>
          <a:p>
            <a:pPr marL="109728" indent="0">
              <a:buNone/>
            </a:pPr>
            <a:r>
              <a:rPr lang="es-GT" dirty="0"/>
              <a:t>c) Extraordinaria sencillez de manejo;</a:t>
            </a:r>
          </a:p>
          <a:p>
            <a:pPr marL="109728" indent="0">
              <a:buNone/>
            </a:pPr>
            <a:r>
              <a:rPr lang="es-GT" dirty="0"/>
              <a:t>d) Plena interrelación documental.</a:t>
            </a:r>
          </a:p>
          <a:p>
            <a:pPr fontAlgn="auto">
              <a:spcAft>
                <a:spcPts val="0"/>
              </a:spcAft>
              <a:defRPr/>
            </a:pPr>
            <a:endParaRPr lang="es-GT" dirty="0"/>
          </a:p>
        </p:txBody>
      </p:sp>
    </p:spTree>
    <p:extLst>
      <p:ext uri="{BB962C8B-B14F-4D97-AF65-F5344CB8AC3E}">
        <p14:creationId xmlns:p14="http://schemas.microsoft.com/office/powerpoint/2010/main" val="4548583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467544" y="1124744"/>
            <a:ext cx="8229600" cy="4032448"/>
          </a:xfrm>
        </p:spPr>
        <p:txBody>
          <a:bodyPr>
            <a:normAutofit fontScale="92500" lnSpcReduction="20000"/>
          </a:bodyPr>
          <a:lstStyle/>
          <a:p>
            <a:pPr marL="109728" indent="0">
              <a:buNone/>
            </a:pPr>
            <a:r>
              <a:rPr lang="es-GT" sz="2900" b="1" dirty="0" smtClean="0"/>
              <a:t>SERVICIOS</a:t>
            </a:r>
          </a:p>
          <a:p>
            <a:pPr marL="109728" indent="0">
              <a:buNone/>
            </a:pPr>
            <a:endParaRPr lang="es-GT" sz="2900" dirty="0"/>
          </a:p>
          <a:p>
            <a:pPr marL="109728" indent="0">
              <a:buNone/>
            </a:pPr>
            <a:r>
              <a:rPr lang="es-GT" sz="2900" dirty="0"/>
              <a:t>a) Documentación, reciba por fax, correo electrónico o correo ordinario, toda la jurisprudencia y legislación que se necesite;</a:t>
            </a:r>
          </a:p>
          <a:p>
            <a:pPr marL="109728" indent="0">
              <a:buNone/>
            </a:pPr>
            <a:endParaRPr lang="es-GT" sz="2900" dirty="0" smtClean="0"/>
          </a:p>
          <a:p>
            <a:pPr marL="109728" indent="0">
              <a:buNone/>
            </a:pPr>
            <a:r>
              <a:rPr lang="es-GT" sz="2900" dirty="0" smtClean="0"/>
              <a:t>b</a:t>
            </a:r>
            <a:r>
              <a:rPr lang="es-GT" sz="2900" dirty="0"/>
              <a:t>) Servicio de Formación Presencial, con sesiones impartidas;</a:t>
            </a:r>
          </a:p>
          <a:p>
            <a:pPr marL="109728" indent="0">
              <a:buNone/>
            </a:pPr>
            <a:endParaRPr lang="es-GT" sz="2900" dirty="0" smtClean="0"/>
          </a:p>
          <a:p>
            <a:pPr marL="109728" indent="0">
              <a:buNone/>
            </a:pPr>
            <a:r>
              <a:rPr lang="es-GT" sz="2900" dirty="0" smtClean="0"/>
              <a:t>c</a:t>
            </a:r>
            <a:r>
              <a:rPr lang="es-GT" sz="2900" dirty="0"/>
              <a:t>) Servicio de Formación Online.</a:t>
            </a:r>
          </a:p>
          <a:p>
            <a:pPr fontAlgn="auto">
              <a:spcAft>
                <a:spcPts val="0"/>
              </a:spcAft>
              <a:defRPr/>
            </a:pPr>
            <a:endParaRPr lang="es-GT" dirty="0"/>
          </a:p>
        </p:txBody>
      </p:sp>
    </p:spTree>
    <p:extLst>
      <p:ext uri="{BB962C8B-B14F-4D97-AF65-F5344CB8AC3E}">
        <p14:creationId xmlns:p14="http://schemas.microsoft.com/office/powerpoint/2010/main" val="759304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467544" y="620688"/>
            <a:ext cx="8229600" cy="5256584"/>
          </a:xfrm>
        </p:spPr>
        <p:txBody>
          <a:bodyPr>
            <a:normAutofit fontScale="92500" lnSpcReduction="20000"/>
          </a:bodyPr>
          <a:lstStyle/>
          <a:p>
            <a:pPr marL="109728" indent="0" algn="just">
              <a:buNone/>
            </a:pPr>
            <a:r>
              <a:rPr lang="es-GT" b="1" dirty="0"/>
              <a:t>HERRAMIENTAS</a:t>
            </a:r>
          </a:p>
          <a:p>
            <a:pPr marL="109728" indent="0" algn="just">
              <a:buNone/>
            </a:pPr>
            <a:r>
              <a:rPr lang="es-GT" dirty="0"/>
              <a:t>a) Asistente Inteligente de Búsqueda, le sugiere las alternativas de consulta más frecuentes para lograr así resultados más precisos;</a:t>
            </a:r>
          </a:p>
          <a:p>
            <a:pPr marL="109728" indent="0" algn="just">
              <a:buNone/>
            </a:pPr>
            <a:r>
              <a:rPr lang="es-GT" dirty="0"/>
              <a:t>b) Notas, técnica sencilla y rápida que permite hacer anotaciones en los textos de nuestra base de datos, haciéndola accesible siempre que acceda al documento;</a:t>
            </a:r>
          </a:p>
          <a:p>
            <a:pPr marL="109728" indent="0" algn="just">
              <a:buNone/>
            </a:pPr>
            <a:r>
              <a:rPr lang="es-GT" dirty="0"/>
              <a:t>c) Subrayado, permite poner de relieve aquellos datos fundamentales que resulten interesantes dentro del texto;</a:t>
            </a:r>
          </a:p>
          <a:p>
            <a:pPr marL="109728" indent="0" algn="just">
              <a:buNone/>
            </a:pPr>
            <a:r>
              <a:rPr lang="es-GT" dirty="0"/>
              <a:t>d) Alertas, permite permanentemente informado vía e-mail de los temas que le interesan;</a:t>
            </a:r>
          </a:p>
          <a:p>
            <a:pPr marL="109728" indent="0" algn="just">
              <a:buNone/>
            </a:pPr>
            <a:r>
              <a:rPr lang="es-GT" dirty="0"/>
              <a:t>e) Buzón y expedientes, Favoritos y Gestor de Búsquedas.</a:t>
            </a:r>
          </a:p>
          <a:p>
            <a:pPr fontAlgn="auto">
              <a:spcAft>
                <a:spcPts val="0"/>
              </a:spcAft>
              <a:defRPr/>
            </a:pPr>
            <a:endParaRPr lang="es-GT" dirty="0"/>
          </a:p>
        </p:txBody>
      </p:sp>
    </p:spTree>
    <p:extLst>
      <p:ext uri="{BB962C8B-B14F-4D97-AF65-F5344CB8AC3E}">
        <p14:creationId xmlns:p14="http://schemas.microsoft.com/office/powerpoint/2010/main" val="35197382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467544" y="620688"/>
            <a:ext cx="8229600" cy="5256584"/>
          </a:xfrm>
        </p:spPr>
        <p:txBody>
          <a:bodyPr>
            <a:normAutofit lnSpcReduction="10000"/>
          </a:bodyPr>
          <a:lstStyle/>
          <a:p>
            <a:pPr marL="109728" indent="0">
              <a:buNone/>
            </a:pPr>
            <a:r>
              <a:rPr lang="es-GT" b="1" u="sng" dirty="0" smtClean="0"/>
              <a:t>EL DERECHO DE LAS TECNOLOGÍAS DE LA INFORMACIÓN Y DE LAS COMUNICACIONES:</a:t>
            </a:r>
          </a:p>
          <a:p>
            <a:pPr marL="109728" indent="0">
              <a:buNone/>
            </a:pPr>
            <a:r>
              <a:rPr lang="es-GT" dirty="0" smtClean="0"/>
              <a:t>Se </a:t>
            </a:r>
            <a:r>
              <a:rPr lang="es-GT" dirty="0"/>
              <a:t>denominan tecnologías de la información y la comunicación al conjunto de tecnologías que permiten la adquisición, producción, almacenamiento, tratamiento, comunicación, registro y presentación de informaciones, en forma de voz, imágenes y datos contenidos en señales de naturaleza acústica, óptica o electromagnética. Las TIC incluyen la electrónica como tecnología base que soporta el desarrollo de las telecomunicaciones, la informática y el audiovisual.</a:t>
            </a:r>
          </a:p>
          <a:p>
            <a:pPr fontAlgn="auto">
              <a:spcAft>
                <a:spcPts val="0"/>
              </a:spcAft>
              <a:defRPr/>
            </a:pPr>
            <a:endParaRPr lang="es-GT" dirty="0"/>
          </a:p>
        </p:txBody>
      </p:sp>
    </p:spTree>
    <p:extLst>
      <p:ext uri="{BB962C8B-B14F-4D97-AF65-F5344CB8AC3E}">
        <p14:creationId xmlns:p14="http://schemas.microsoft.com/office/powerpoint/2010/main" val="38339049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467544" y="620688"/>
            <a:ext cx="8208912" cy="5256584"/>
          </a:xfrm>
        </p:spPr>
        <p:txBody>
          <a:bodyPr numCol="3">
            <a:normAutofit fontScale="85000" lnSpcReduction="20000"/>
          </a:bodyPr>
          <a:lstStyle/>
          <a:p>
            <a:pPr marL="109728" indent="0">
              <a:buNone/>
            </a:pPr>
            <a:r>
              <a:rPr lang="es-GT" b="1" dirty="0" smtClean="0"/>
              <a:t>Las </a:t>
            </a:r>
            <a:r>
              <a:rPr lang="es-GT" b="1" dirty="0"/>
              <a:t>TIC comprende:</a:t>
            </a:r>
          </a:p>
          <a:p>
            <a:pPr marL="109728" indent="0">
              <a:buNone/>
            </a:pPr>
            <a:r>
              <a:rPr lang="es-GT" dirty="0"/>
              <a:t>1. Las redes</a:t>
            </a:r>
          </a:p>
          <a:p>
            <a:pPr marL="109728" indent="0">
              <a:buNone/>
            </a:pPr>
            <a:r>
              <a:rPr lang="es-GT" dirty="0"/>
              <a:t>1.1 Telefonía fija</a:t>
            </a:r>
          </a:p>
          <a:p>
            <a:pPr marL="109728" indent="0">
              <a:buNone/>
            </a:pPr>
            <a:r>
              <a:rPr lang="es-GT" dirty="0"/>
              <a:t>1.2 Banda ancha</a:t>
            </a:r>
          </a:p>
          <a:p>
            <a:pPr marL="109728" indent="0">
              <a:buNone/>
            </a:pPr>
            <a:r>
              <a:rPr lang="es-GT" dirty="0"/>
              <a:t>1.3 Telefonía móvil</a:t>
            </a:r>
          </a:p>
          <a:p>
            <a:pPr marL="109728" indent="0">
              <a:buNone/>
            </a:pPr>
            <a:r>
              <a:rPr lang="es-GT" dirty="0"/>
              <a:t>1.4 Redes de televisión</a:t>
            </a:r>
          </a:p>
          <a:p>
            <a:pPr marL="109728" indent="0">
              <a:buNone/>
            </a:pPr>
            <a:r>
              <a:rPr lang="es-GT" dirty="0"/>
              <a:t>1.5 Redes en el hogar</a:t>
            </a:r>
          </a:p>
          <a:p>
            <a:pPr marL="109728" indent="0">
              <a:buNone/>
            </a:pPr>
            <a:r>
              <a:rPr lang="es-GT" dirty="0"/>
              <a:t>2. Los terminales</a:t>
            </a:r>
          </a:p>
          <a:p>
            <a:pPr marL="109728" indent="0">
              <a:buNone/>
            </a:pPr>
            <a:r>
              <a:rPr lang="es-GT" dirty="0"/>
              <a:t>2.1 Ordenador personal</a:t>
            </a:r>
          </a:p>
          <a:p>
            <a:pPr marL="109728" indent="0">
              <a:buNone/>
            </a:pPr>
            <a:r>
              <a:rPr lang="es-GT" dirty="0"/>
              <a:t>2.2 Navegador de internet</a:t>
            </a:r>
          </a:p>
          <a:p>
            <a:pPr marL="109728" indent="0">
              <a:buNone/>
            </a:pPr>
            <a:r>
              <a:rPr lang="es-GT" dirty="0"/>
              <a:t>3. Sistemas operativos para ordenadores</a:t>
            </a:r>
          </a:p>
          <a:p>
            <a:pPr marL="109728" indent="0">
              <a:buNone/>
            </a:pPr>
            <a:r>
              <a:rPr lang="es-GT" dirty="0"/>
              <a:t>3.1 Teléfono móvil</a:t>
            </a:r>
          </a:p>
          <a:p>
            <a:pPr marL="109728" indent="0">
              <a:buNone/>
            </a:pPr>
            <a:r>
              <a:rPr lang="es-GT" dirty="0"/>
              <a:t>3.2 Televisor</a:t>
            </a:r>
          </a:p>
          <a:p>
            <a:pPr marL="109728" indent="0">
              <a:buNone/>
            </a:pPr>
            <a:r>
              <a:rPr lang="es-GT" dirty="0"/>
              <a:t>3.3 Reproductores portátiles de audio y vídeo</a:t>
            </a:r>
          </a:p>
          <a:p>
            <a:pPr marL="109728" indent="0">
              <a:buNone/>
            </a:pPr>
            <a:r>
              <a:rPr lang="es-GT" dirty="0"/>
              <a:t>4. Consolas de juego</a:t>
            </a:r>
          </a:p>
          <a:p>
            <a:pPr marL="109728" indent="0">
              <a:buNone/>
            </a:pPr>
            <a:r>
              <a:rPr lang="es-GT" dirty="0"/>
              <a:t>4.1. Servicios en las TIC</a:t>
            </a:r>
          </a:p>
          <a:p>
            <a:pPr marL="109728" indent="0">
              <a:buNone/>
            </a:pPr>
            <a:r>
              <a:rPr lang="es-GT" dirty="0"/>
              <a:t>4.2 Correo electrónico</a:t>
            </a:r>
          </a:p>
          <a:p>
            <a:pPr marL="109728" indent="0">
              <a:buNone/>
            </a:pPr>
            <a:r>
              <a:rPr lang="es-GT" dirty="0"/>
              <a:t>4.3Búsqueda de información</a:t>
            </a:r>
          </a:p>
          <a:p>
            <a:pPr marL="109728" indent="0">
              <a:buNone/>
            </a:pPr>
            <a:r>
              <a:rPr lang="es-GT" dirty="0"/>
              <a:t>4.4 Banca online</a:t>
            </a:r>
          </a:p>
          <a:p>
            <a:pPr marL="109728" indent="0">
              <a:buNone/>
            </a:pPr>
            <a:r>
              <a:rPr lang="es-GT" dirty="0"/>
              <a:t>4.5 Audio y música</a:t>
            </a:r>
          </a:p>
          <a:p>
            <a:pPr marL="109728" indent="0">
              <a:buNone/>
            </a:pPr>
            <a:r>
              <a:rPr lang="es-GT" dirty="0"/>
              <a:t>4.6 TV y cine</a:t>
            </a:r>
          </a:p>
          <a:p>
            <a:pPr marL="109728" indent="0">
              <a:buNone/>
            </a:pPr>
            <a:r>
              <a:rPr lang="es-GT" dirty="0"/>
              <a:t>4.7 Comercio electrónico</a:t>
            </a:r>
          </a:p>
          <a:p>
            <a:pPr marL="109728" indent="0">
              <a:buNone/>
            </a:pPr>
            <a:r>
              <a:rPr lang="es-GT" dirty="0"/>
              <a:t>4.8 E-administración- E-gobierno</a:t>
            </a:r>
          </a:p>
          <a:p>
            <a:pPr marL="109728" indent="0">
              <a:buNone/>
            </a:pPr>
            <a:r>
              <a:rPr lang="es-GT" dirty="0"/>
              <a:t>4.9 E-sanidad</a:t>
            </a:r>
          </a:p>
          <a:p>
            <a:pPr marL="109728" indent="0">
              <a:buNone/>
            </a:pPr>
            <a:r>
              <a:rPr lang="es-GT" dirty="0"/>
              <a:t>4.10 Educación</a:t>
            </a:r>
          </a:p>
          <a:p>
            <a:pPr marL="109728" indent="0">
              <a:buNone/>
            </a:pPr>
            <a:r>
              <a:rPr lang="es-GT" dirty="0"/>
              <a:t>4.11 Videojuegos</a:t>
            </a:r>
          </a:p>
          <a:p>
            <a:pPr marL="109728" indent="0">
              <a:buNone/>
            </a:pPr>
            <a:r>
              <a:rPr lang="es-GT" dirty="0"/>
              <a:t>4.12 Servicios móviles</a:t>
            </a:r>
          </a:p>
          <a:p>
            <a:pPr marL="109728" indent="0" fontAlgn="auto">
              <a:spcAft>
                <a:spcPts val="0"/>
              </a:spcAft>
              <a:buNone/>
              <a:defRPr/>
            </a:pPr>
            <a:endParaRPr lang="es-GT" dirty="0"/>
          </a:p>
        </p:txBody>
      </p:sp>
    </p:spTree>
    <p:extLst>
      <p:ext uri="{BB962C8B-B14F-4D97-AF65-F5344CB8AC3E}">
        <p14:creationId xmlns:p14="http://schemas.microsoft.com/office/powerpoint/2010/main" val="42584625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457200" y="1556792"/>
            <a:ext cx="8229600" cy="4539208"/>
          </a:xfrm>
        </p:spPr>
        <p:txBody>
          <a:bodyPr>
            <a:normAutofit fontScale="85000" lnSpcReduction="20000"/>
          </a:bodyPr>
          <a:lstStyle/>
          <a:p>
            <a:pPr marL="109728" indent="0">
              <a:buNone/>
            </a:pPr>
            <a:r>
              <a:rPr lang="es-GT" dirty="0" smtClean="0"/>
              <a:t>Los</a:t>
            </a:r>
            <a:r>
              <a:rPr lang="es-GT" dirty="0"/>
              <a:t> </a:t>
            </a:r>
            <a:r>
              <a:rPr lang="es-GT" b="1" dirty="0"/>
              <a:t>datos personales</a:t>
            </a:r>
            <a:r>
              <a:rPr lang="es-GT" dirty="0"/>
              <a:t> corresponden a cualquier información concerniente a una persona física identificada o identificable. Se considera que una persona es identificable cuando su identidad pueda determinarse directa o indirectamente a través de cualquier información. Igualmente existen datos personales sensibles que son aquellos que se refieran a la esfera más íntima de su titular, o cuya utilización indebida pueda dar origen a discriminación o conlleve un riesgo grave para éste. De manera enunciativa más no limitativa, se consideran sensibles los datos personales que puedan revelar aspectos como origen racial o étnico, estado de salud presente o futuro, información genética, creencias religiosas, filosóficas y morales, opiniones políticas y preferencia </a:t>
            </a:r>
            <a:r>
              <a:rPr lang="es-GT" dirty="0" smtClean="0"/>
              <a:t>sexual.</a:t>
            </a:r>
            <a:r>
              <a:rPr lang="es-GT" dirty="0"/>
              <a:t> </a:t>
            </a:r>
            <a:endParaRPr lang="es-GT" sz="2400" dirty="0"/>
          </a:p>
          <a:p>
            <a:pPr fontAlgn="auto">
              <a:spcAft>
                <a:spcPts val="0"/>
              </a:spcAft>
              <a:defRPr/>
            </a:pPr>
            <a:endParaRPr lang="es-GT" dirty="0"/>
          </a:p>
        </p:txBody>
      </p:sp>
      <p:sp>
        <p:nvSpPr>
          <p:cNvPr id="2" name="1 Título"/>
          <p:cNvSpPr>
            <a:spLocks noGrp="1"/>
          </p:cNvSpPr>
          <p:nvPr>
            <p:ph type="title"/>
          </p:nvPr>
        </p:nvSpPr>
        <p:spPr/>
        <p:txBody>
          <a:bodyPr>
            <a:normAutofit fontScale="90000"/>
          </a:bodyPr>
          <a:lstStyle/>
          <a:p>
            <a:r>
              <a:rPr lang="es-GT" sz="3200" dirty="0" smtClean="0">
                <a:solidFill>
                  <a:schemeClr val="tx1"/>
                </a:solidFill>
              </a:rPr>
              <a:t>DERECHOS ARCO:  DERECHOS </a:t>
            </a:r>
            <a:r>
              <a:rPr lang="es-GT" sz="3200" dirty="0">
                <a:solidFill>
                  <a:schemeClr val="tx1"/>
                </a:solidFill>
              </a:rPr>
              <a:t>DE ACCESO, RECTIFICACIÓN, CANCELACIÓN Y OPOSICIÓN DE DATOS PERSONALES</a:t>
            </a:r>
            <a:endParaRPr lang="es-GT" sz="2800" dirty="0">
              <a:solidFill>
                <a:schemeClr val="tx1"/>
              </a:solidFill>
            </a:endParaRPr>
          </a:p>
        </p:txBody>
      </p:sp>
    </p:spTree>
    <p:extLst>
      <p:ext uri="{BB962C8B-B14F-4D97-AF65-F5344CB8AC3E}">
        <p14:creationId xmlns:p14="http://schemas.microsoft.com/office/powerpoint/2010/main" val="3488721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428625" y="1628800"/>
            <a:ext cx="8229600" cy="4075112"/>
          </a:xfrm>
        </p:spPr>
        <p:txBody>
          <a:bodyPr/>
          <a:lstStyle/>
          <a:p>
            <a:pPr marL="109728" indent="0" algn="just">
              <a:buNone/>
              <a:defRPr/>
            </a:pPr>
            <a:r>
              <a:rPr lang="es-GT" dirty="0" smtClean="0"/>
              <a:t>Estos </a:t>
            </a:r>
            <a:r>
              <a:rPr lang="es-GT" dirty="0"/>
              <a:t>son derechos de acceso, rectificación, cancelación y oposición al tratamiento de datos personales. En todo momento el titular o su representante podrán solicitar al responsable, el acceso, rectificación, cancelación u oposición al tratamiento de los datos personales que le conciernen. El ejercicio de cualquiera de los derechos ARCO no es requisito previo, ni impide el ejercicio de otro. </a:t>
            </a:r>
          </a:p>
        </p:txBody>
      </p:sp>
      <p:sp>
        <p:nvSpPr>
          <p:cNvPr id="2" name="1 Título"/>
          <p:cNvSpPr>
            <a:spLocks noGrp="1"/>
          </p:cNvSpPr>
          <p:nvPr>
            <p:ph type="title"/>
          </p:nvPr>
        </p:nvSpPr>
        <p:spPr>
          <a:xfrm>
            <a:off x="2738053" y="404664"/>
            <a:ext cx="3610744" cy="1143000"/>
          </a:xfrm>
        </p:spPr>
        <p:txBody>
          <a:bodyPr>
            <a:normAutofit/>
          </a:bodyPr>
          <a:lstStyle/>
          <a:p>
            <a:pPr fontAlgn="auto">
              <a:spcAft>
                <a:spcPts val="0"/>
              </a:spcAft>
              <a:defRPr/>
            </a:pPr>
            <a:r>
              <a:rPr lang="es-GT" sz="3200" dirty="0">
                <a:solidFill>
                  <a:schemeClr val="tx1"/>
                </a:solidFill>
              </a:rPr>
              <a:t>Derechos </a:t>
            </a:r>
            <a:r>
              <a:rPr lang="es-GT" sz="3200" dirty="0" smtClean="0">
                <a:solidFill>
                  <a:schemeClr val="tx1"/>
                </a:solidFill>
              </a:rPr>
              <a:t>ARCO</a:t>
            </a:r>
            <a:endParaRPr lang="es-GT" sz="3000" dirty="0">
              <a:solidFill>
                <a:schemeClr val="tx1"/>
              </a:solidFill>
            </a:endParaRPr>
          </a:p>
        </p:txBody>
      </p:sp>
    </p:spTree>
    <p:extLst>
      <p:ext uri="{BB962C8B-B14F-4D97-AF65-F5344CB8AC3E}">
        <p14:creationId xmlns:p14="http://schemas.microsoft.com/office/powerpoint/2010/main" val="14486523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467544" y="1052736"/>
            <a:ext cx="8229600" cy="4219128"/>
          </a:xfrm>
        </p:spPr>
        <p:txBody>
          <a:bodyPr>
            <a:normAutofit lnSpcReduction="10000"/>
          </a:bodyPr>
          <a:lstStyle/>
          <a:p>
            <a:pPr marL="109728" indent="0" algn="just">
              <a:buNone/>
              <a:defRPr/>
            </a:pPr>
            <a:r>
              <a:rPr lang="es-GT" b="1" u="sng" dirty="0"/>
              <a:t>ACCESO:</a:t>
            </a:r>
            <a:r>
              <a:rPr lang="es-GT" b="1" dirty="0"/>
              <a:t> </a:t>
            </a:r>
            <a:r>
              <a:rPr lang="es-GT" dirty="0"/>
              <a:t>El titular tendrá derecho de acceder a sus datos personales que obren en posesión del responsable, así como conocer la información relacionada con las condiciones y generalidades de </a:t>
            </a:r>
            <a:r>
              <a:rPr lang="es-GT" dirty="0" smtClean="0"/>
              <a:t>su tratamiento.</a:t>
            </a:r>
          </a:p>
          <a:p>
            <a:pPr marL="109728" indent="0" algn="just">
              <a:buNone/>
              <a:defRPr/>
            </a:pPr>
            <a:r>
              <a:rPr lang="es-GT" dirty="0"/>
              <a:t> </a:t>
            </a:r>
            <a:br>
              <a:rPr lang="es-GT" dirty="0"/>
            </a:br>
            <a:r>
              <a:rPr lang="es-GT" b="1" u="sng" dirty="0"/>
              <a:t>RECTIFICACIÓN</a:t>
            </a:r>
            <a:r>
              <a:rPr lang="es-GT" b="1" dirty="0"/>
              <a:t>:</a:t>
            </a:r>
            <a:r>
              <a:rPr lang="es-GT" dirty="0"/>
              <a:t> El titular tendrá derecho a solicitar al responsable la rectificación o corrección de sus datos personales, cuando estos resulten ser inexactos, incompletos o no se encuentren actualizados.</a:t>
            </a:r>
          </a:p>
        </p:txBody>
      </p:sp>
    </p:spTree>
    <p:extLst>
      <p:ext uri="{BB962C8B-B14F-4D97-AF65-F5344CB8AC3E}">
        <p14:creationId xmlns:p14="http://schemas.microsoft.com/office/powerpoint/2010/main" val="35311542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4294967295"/>
          </p:nvPr>
        </p:nvSpPr>
        <p:spPr>
          <a:xfrm>
            <a:off x="395536" y="1196752"/>
            <a:ext cx="8229600" cy="4075112"/>
          </a:xfrm>
        </p:spPr>
        <p:txBody>
          <a:bodyPr>
            <a:normAutofit lnSpcReduction="10000"/>
          </a:bodyPr>
          <a:lstStyle/>
          <a:p>
            <a:pPr marL="109728" indent="0" algn="just">
              <a:buNone/>
              <a:defRPr/>
            </a:pPr>
            <a:r>
              <a:rPr lang="es-GT" b="1" u="sng" dirty="0"/>
              <a:t>CANCELACIÓN:</a:t>
            </a:r>
            <a:r>
              <a:rPr lang="es-GT" dirty="0"/>
              <a:t> El titular tendrá derecho a solicitar la cancelación de sus datos personales de los archivos, registros, expedientes y sistemas del responsable, a fin de que los mismos ya no estén en su posesión y dejen de ser tratados por este último.</a:t>
            </a:r>
            <a:br>
              <a:rPr lang="es-GT" dirty="0"/>
            </a:br>
            <a:r>
              <a:rPr lang="es-GT" dirty="0"/>
              <a:t/>
            </a:r>
            <a:br>
              <a:rPr lang="es-GT" dirty="0"/>
            </a:br>
            <a:r>
              <a:rPr lang="es-GT" b="1" u="sng" dirty="0"/>
              <a:t>OPOSICIÓN:</a:t>
            </a:r>
            <a:r>
              <a:rPr lang="es-GT" dirty="0"/>
              <a:t> El titular podrá oponerse al tratamiento de sus datos personales o exigir que se cese en el mismo, cuando:</a:t>
            </a:r>
          </a:p>
        </p:txBody>
      </p:sp>
    </p:spTree>
    <p:extLst>
      <p:ext uri="{BB962C8B-B14F-4D97-AF65-F5344CB8AC3E}">
        <p14:creationId xmlns:p14="http://schemas.microsoft.com/office/powerpoint/2010/main" val="23902525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899592" y="2780928"/>
            <a:ext cx="7416824" cy="723275"/>
          </a:xfrm>
          <a:prstGeom prst="rect">
            <a:avLst/>
          </a:prstGeom>
        </p:spPr>
        <p:txBody>
          <a:bodyPr wrap="square">
            <a:spAutoFit/>
          </a:bodyPr>
          <a:lstStyle/>
          <a:p>
            <a:pPr algn="ctr"/>
            <a:r>
              <a:rPr lang="es-GT" sz="4100" b="1" dirty="0" smtClean="0"/>
              <a:t>MUCHAS GRACIAS.</a:t>
            </a:r>
            <a:endParaRPr lang="es-GT" dirty="0"/>
          </a:p>
        </p:txBody>
      </p:sp>
    </p:spTree>
    <p:extLst>
      <p:ext uri="{BB962C8B-B14F-4D97-AF65-F5344CB8AC3E}">
        <p14:creationId xmlns:p14="http://schemas.microsoft.com/office/powerpoint/2010/main" val="32112744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urrencia">
  <a:themeElements>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urrencia">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urrencia">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406</TotalTime>
  <Words>1083</Words>
  <Application>Microsoft Office PowerPoint</Application>
  <PresentationFormat>Presentación en pantalla (4:3)</PresentationFormat>
  <Paragraphs>78</Paragraphs>
  <Slides>20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Lucida Sans Unicode</vt:lpstr>
      <vt:lpstr>Verdana</vt:lpstr>
      <vt:lpstr>Wingdings 2</vt:lpstr>
      <vt:lpstr>Wingdings 3</vt:lpstr>
      <vt:lpstr>Concurrencia</vt:lpstr>
      <vt:lpstr>Diferencia entre Derecho Informático e Informática Jurídica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DERECHOS ARCO:  DERECHOS DE ACCESO, RECTIFICACIÓN, CANCELACIÓN Y OPOSICIÓN DE DATOS PERSONALES</vt:lpstr>
      <vt:lpstr>Derechos ARCO</vt:lpstr>
      <vt:lpstr>Presentación de PowerPoint</vt:lpstr>
      <vt:lpstr>Presentación de PowerPoint</vt:lpstr>
      <vt:lpstr>Presentación de PowerPoint</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INTERRUPCIONES</dc:title>
  <dc:creator>ferrant</dc:creator>
  <cp:lastModifiedBy>LENOVO</cp:lastModifiedBy>
  <cp:revision>52</cp:revision>
  <dcterms:created xsi:type="dcterms:W3CDTF">2011-09-22T16:04:35Z</dcterms:created>
  <dcterms:modified xsi:type="dcterms:W3CDTF">2022-02-25T06:04:35Z</dcterms:modified>
</cp:coreProperties>
</file>